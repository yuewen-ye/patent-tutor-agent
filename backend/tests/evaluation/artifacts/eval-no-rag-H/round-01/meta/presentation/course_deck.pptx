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大家好，这一课我们先搭建材料专利的基础地图。不是一上来就看性能好不好，而是先分清专利制度的边界、保护客体和后续三性判断的入口。我们来看下一页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这一页讲一个典型场景。材料团队往往把产品、工艺、外观设计和实验数据放在一起看，但专利判断不能这样处理。先拆分对象，再区分研发事实和公开事实，最后才进入法律分析。我们来看下一页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先把法条位置钉住。第二条告诉我们有哪些专利保护客体，第二十二条在本课中作为三性框架的定位依据，第二十五条则提醒我们，不能把所有技术效果都直接当成可授权对象。接下来我们进入制度本身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这页先讲专利权本身是什么样的权利。独占性、时间性和地域性，分别对应排他保护、期限限制和法域限制。它们回答的是权利边界问题，不是直接回答某个材料方案能不能授权。我们来看下一页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这一页讲规范层级。学习材料专利时，先分清问题属于哪一层：基本制度看专利法，程序和文件看实施细则，具体审查口径再结合审查指南。三者功能不同，不能互相替代。我们来看下一页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这一页解决最容易混淆的问题。材料是技术领域，不是法定客体分类。要回到具体内容，判断它是产品、方法、结构还是视觉设计，再分别找到发明、实用新型或外观设计的分析入口。我们来看下一页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制度功能和公开环节放在一起看。专利制度不是只保护，也要求公开技术信息，进而推动应用和发展。但实验数据、论文或者展会，只能说明事实层面的披露，不能直接替代法律上的授权判断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这页强调公开和审查的区别。公开是信息呈现，审查是依照规则作出判断，两者不能混同。进入后续学习时，新颖性、创造性和实用性也要分别看，不要把它们揉成一个笼统结论。我们来看下一页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这一页用案例把前面的规则串起来。面对同一项目，不能直接用性能优异推到授权结论，而是先拆分成果，再定位保护客体，之后把实验数据、公开事实和法律判断分开处理。我们来看下一页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这一页是核心区分。新颖性、创造性、实用性是三件不同的事。新颖性看有没有相同技术方案，创造性看是不是容易想到，实用性看能不能制造或使用并产生积极效果。三者不能互相替代。我们来看下一页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这一页把前面的内容收成一个顺序。先拆对象，再定客体，然后进入三性分析。若题干里出现论文、展会或会议披露，也要先把公开事实单独记录下来，不要和授权结论混在一起。我们来看下一页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这一页做一个小测。看到‘性能优异’时，不能直接跳到‘具备新颖性并能授权’。正确做法是先看对象是不是适格客体，再分别判断实用性、新颖性和创造性。答案是 B。我们来看下一页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最后我们回顾本课的关键结论。先画制度地图，再定位保护客体，然后分别看新颖性、创造性和实用性。材料成果、公开事实和法律结论不能混在一起，这是后面学习专利审查的基础。到这里本课结束。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1963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0990" y="0"/>
            <a:ext cx="391963" cy="685800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80" y="0"/>
            <a:ext cx="391963" cy="6858000"/>
          </a:xfrm>
          <a:prstGeom prst="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971" y="0"/>
            <a:ext cx="391963" cy="6858000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3961" y="0"/>
            <a:ext cx="391963" cy="6858000"/>
          </a:xfrm>
          <a:prstGeom prst="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4952" y="0"/>
            <a:ext cx="391963" cy="6858000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5942" y="0"/>
            <a:ext cx="391963" cy="6858000"/>
          </a:xfrm>
          <a:prstGeom prst="rect">
            <a:avLst/>
          </a:prstGeom>
          <a:solidFill>
            <a:srgbClr val="FF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6933" y="0"/>
            <a:ext cx="391963" cy="68580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47923" y="0"/>
            <a:ext cx="391963" cy="6858000"/>
          </a:xfrm>
          <a:prstGeom prst="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8914" y="0"/>
            <a:ext cx="391963" cy="6858000"/>
          </a:xfrm>
          <a:prstGeom prst="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09904" y="0"/>
            <a:ext cx="391963" cy="6858000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0895" y="0"/>
            <a:ext cx="391963" cy="6858000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1885" y="0"/>
            <a:ext cx="391963" cy="6858000"/>
          </a:xfrm>
          <a:prstGeom prst="rect">
            <a:avLst/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2876" y="0"/>
            <a:ext cx="391963" cy="6858000"/>
          </a:xfrm>
          <a:prstGeom prst="rect">
            <a:avLst/>
          </a:prstGeom>
          <a:solidFill>
            <a:srgbClr val="FFF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3866" y="0"/>
            <a:ext cx="391963" cy="68580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4857" y="0"/>
            <a:ext cx="391963" cy="6858000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0"/>
            <a:ext cx="391963" cy="6858000"/>
          </a:xfrm>
          <a:prstGeom prst="rect">
            <a:avLst/>
          </a:prstGeom>
          <a:solidFill>
            <a:srgbClr val="F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6838" y="0"/>
            <a:ext cx="391963" cy="6858000"/>
          </a:xfrm>
          <a:prstGeom prst="rect">
            <a:avLst/>
          </a:prstGeom>
          <a:solidFill>
            <a:srgbClr val="FFE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7828" y="0"/>
            <a:ext cx="391963" cy="6858000"/>
          </a:xfrm>
          <a:prstGeom prst="rect">
            <a:avLst/>
          </a:prstGeom>
          <a:solidFill>
            <a:srgbClr val="FF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38819" y="0"/>
            <a:ext cx="391963" cy="6858000"/>
          </a:xfrm>
          <a:prstGeom prst="rect">
            <a:avLst/>
          </a:prstGeom>
          <a:solidFill>
            <a:srgbClr val="FF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19809" y="0"/>
            <a:ext cx="391963" cy="6858000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0799" y="0"/>
            <a:ext cx="391963" cy="6858000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1790" y="0"/>
            <a:ext cx="391963" cy="6858000"/>
          </a:xfrm>
          <a:prstGeom prst="rect">
            <a:avLst/>
          </a:prstGeom>
          <a:solidFill>
            <a:srgbClr val="FFE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62780" y="0"/>
            <a:ext cx="391963" cy="6858000"/>
          </a:xfrm>
          <a:prstGeom prst="rect">
            <a:avLst/>
          </a:prstGeom>
          <a:solidFill>
            <a:srgbClr val="FF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3771" y="0"/>
            <a:ext cx="391963" cy="6858000"/>
          </a:xfrm>
          <a:prstGeom prst="rect">
            <a:avLst/>
          </a:prstGeom>
          <a:solidFill>
            <a:srgbClr val="FF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24761" y="0"/>
            <a:ext cx="391963" cy="6858000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05752" y="0"/>
            <a:ext cx="391963" cy="6858000"/>
          </a:xfrm>
          <a:prstGeom prst="rect">
            <a:avLst/>
          </a:prstGeom>
          <a:solidFill>
            <a:srgbClr val="FF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86742" y="0"/>
            <a:ext cx="391963" cy="6858000"/>
          </a:xfrm>
          <a:prstGeom prst="rect">
            <a:avLst/>
          </a:prstGeom>
          <a:solidFill>
            <a:srgbClr val="FF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7733" y="0"/>
            <a:ext cx="391963" cy="6858000"/>
          </a:xfrm>
          <a:prstGeom prst="rect">
            <a:avLst/>
          </a:prstGeom>
          <a:solidFill>
            <a:srgbClr val="FF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48723" y="0"/>
            <a:ext cx="391963" cy="6858000"/>
          </a:xfrm>
          <a:prstGeom prst="rect">
            <a:avLst/>
          </a:prstGeom>
          <a:solidFill>
            <a:srgbClr val="FFE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29714" y="0"/>
            <a:ext cx="391963" cy="6858000"/>
          </a:xfrm>
          <a:prstGeom prst="rect">
            <a:avLst/>
          </a:prstGeom>
          <a:solidFill>
            <a:srgbClr val="FFE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810704" y="0"/>
            <a:ext cx="391963" cy="6858000"/>
          </a:xfrm>
          <a:prstGeom prst="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960120"/>
            <a:ext cx="68580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1298448"/>
            <a:ext cx="2377440" cy="54864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1508760"/>
            <a:ext cx="6309360" cy="2011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3600" b="0">
                <a:solidFill>
                  <a:srgbClr val="5C3A26"/>
                </a:solidFill>
                <a:latin typeface="Aptos"/>
              </a:rPr>
              <a:t>专利制度基础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611880"/>
            <a:ext cx="6309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0">
                <a:solidFill>
                  <a:srgbClr val="9A4A1C"/>
                </a:solidFill>
                <a:latin typeface="Aptos"/>
              </a:rPr>
              <a:t>材料研发成果进入专利分析前，先看制度边界、客体分类与三性框架</a:t>
            </a:r>
          </a:p>
        </p:txBody>
      </p:sp>
      <p:sp>
        <p:nvSpPr>
          <p:cNvPr id="38" name="Oval 37"/>
          <p:cNvSpPr/>
          <p:nvPr/>
        </p:nvSpPr>
        <p:spPr>
          <a:xfrm>
            <a:off x="8970263" y="2249424"/>
            <a:ext cx="1536192" cy="1536192"/>
          </a:xfrm>
          <a:prstGeom prst="ellipse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61845" y="3739896"/>
            <a:ext cx="553029" cy="457200"/>
          </a:xfrm>
          <a:prstGeom prst="roundRect">
            <a:avLst/>
          </a:prstGeom>
          <a:solidFill>
            <a:srgbClr val="9A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08226" y="4242816"/>
            <a:ext cx="860267" cy="201168"/>
          </a:xfrm>
          <a:prstGeom prst="roundRect">
            <a:avLst/>
          </a:prstGeom>
          <a:solidFill>
            <a:srgbClr val="9A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69249" y="1861718"/>
            <a:ext cx="219456" cy="219456"/>
          </a:xfrm>
          <a:prstGeom prst="ellipse">
            <a:avLst/>
          </a:prstGeom>
          <a:solidFill>
            <a:srgbClr val="2D8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88014" y="1861718"/>
            <a:ext cx="219456" cy="219456"/>
          </a:xfrm>
          <a:prstGeom prst="ellipse">
            <a:avLst/>
          </a:prstGeom>
          <a:solidFill>
            <a:srgbClr val="2D8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28632" y="1170431"/>
            <a:ext cx="219456" cy="219456"/>
          </a:xfrm>
          <a:prstGeom prst="ellipse">
            <a:avLst/>
          </a:prstGeom>
          <a:solidFill>
            <a:srgbClr val="2D8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612648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000" b="0">
                <a:solidFill>
                  <a:srgbClr val="9A4A1C"/>
                </a:solidFill>
                <a:latin typeface="Aptos"/>
              </a:rPr>
              <a:t>PATENT TUTOR · 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457200"/>
            <a:ext cx="640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耐高温材料起点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某团队研发了一种耐高温复合材料，
同时形成材料产品、烧结工艺和表面纹样。
他们把实验优异、论文公开、能否授权混在一起。
专利工程师要求先拆分对象，再分开判断。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关键拆分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把产品、工艺、外观和实验事实分开看。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B91C1C"/>
                </a:solidFill>
                <a:latin typeface="Aptos"/>
              </a:rPr>
              <a:t>易混点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性能优异、论文公开和能否授权不是同一个问题。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法条锚点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000" b="1">
                <a:solidFill>
                  <a:srgbClr val="5C3A26"/>
                </a:solidFill>
                <a:latin typeface="Aptos"/>
              </a:rPr>
              <a:t>《中华人民共和国专利法》第二条；《中华人民共和国专利法》第二十二条；《中华人民共和国专利法》第二十五条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第二条定客体，第二十二条定三性，第二十五条提示边界。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法条位置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先定三类客体，再进入授权条件分析。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1569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12953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第二条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6239" y="4892040"/>
            <a:ext cx="1569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339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399" y="5486400"/>
            <a:ext cx="12953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第二十二条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8840" y="4892040"/>
            <a:ext cx="1569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60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0" y="5486400"/>
            <a:ext cx="12953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第二十五条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专利制度特征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专利权的三个基本特征是：
独占性、时间性、地域性。
它们共同说明专利权的边界。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独占性体现排他保护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时间性说明保护有期限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地域性说明效力受法域限制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300" y="5143500"/>
            <a:ext cx="1828800" cy="640080"/>
          </a:xfrm>
          <a:prstGeom prst="roundRect">
            <a:avLst/>
          </a:prstGeom>
          <a:solidFill>
            <a:srgbClr val="5C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7460" y="5353812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权利边界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83479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66359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独占性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19" y="4983479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5166359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时间性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20640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地域性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记忆点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它们回答权利边界，不直接回答能否授权。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规范层级关系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15568"/>
            <a:ext cx="11057839" cy="804672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71016"/>
            <a:ext cx="10607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0">
                <a:solidFill>
                  <a:srgbClr val="5C3A26"/>
                </a:solidFill>
                <a:latin typeface="Aptos"/>
              </a:rPr>
              <a:t>中国专利制度可先按三个层次理解：
专利法提供基本制度；
实施细则补充程序和操作；
审查指南提供更细的审查口径。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48840"/>
            <a:ext cx="10378440" cy="35661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ea="Microsoft YaHei" sz="2000">
                <a:solidFill>
                  <a:srgbClr val="5C3A26"/>
                </a:solidFill>
                <a:latin typeface="Aptos"/>
              </a:defRPr>
            </a:pPr>
            <a:r>
              <a:rPr sz="2000"/>
              <a:t>• 1. 专利法</a:t>
            </a:r>
          </a:p>
          <a:p>
            <a:pPr>
              <a:spcAft>
                <a:spcPts val="800"/>
              </a:spcAft>
              <a:defRPr ea="Microsoft YaHei" sz="2000">
                <a:solidFill>
                  <a:srgbClr val="5C3A26"/>
                </a:solidFill>
                <a:latin typeface="Aptos"/>
              </a:defRPr>
            </a:pPr>
            <a:r>
              <a:rPr sz="2000"/>
              <a:t>• 2. 实施细则</a:t>
            </a:r>
          </a:p>
          <a:p>
            <a:pPr>
              <a:spcAft>
                <a:spcPts val="800"/>
              </a:spcAft>
              <a:defRPr ea="Microsoft YaHei" sz="2000">
                <a:solidFill>
                  <a:srgbClr val="5C3A26"/>
                </a:solidFill>
                <a:latin typeface="Aptos"/>
              </a:defRPr>
            </a:pPr>
            <a:r>
              <a:rPr sz="2000"/>
              <a:t>• 3. 审查指南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使用方法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先判断问题属于哪一层，再找对应依据。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三类保护客体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材料领域不能只看项目名称。
要回到具体内容判断：
材料产品、制备方法、产品结构、视觉设计，
分别对应不同的客体分析入口。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材料名称不等于客体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产品和方法先看发明方向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形状图案色彩看外观设计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300" y="5143500"/>
            <a:ext cx="1828800" cy="640080"/>
          </a:xfrm>
          <a:prstGeom prst="roundRect">
            <a:avLst/>
          </a:prstGeom>
          <a:solidFill>
            <a:srgbClr val="5C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7460" y="5353812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客体识别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83479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66359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产品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19" y="4983479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5166359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方法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20640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结构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19" y="5120640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59" y="5303520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外观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判定顺序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材料名称不能替代客体分类。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制度作用与公开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专利制度通过保护与公开的安排，
形成激励发明创造、促进技术公开、
推动技术应用和经济发展的链条。
实验数据、论文、展会都可能是公开事实。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保护与公开相互配合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公开事实不等于授权结论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技术事实和法律判断要分开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5330952"/>
            <a:ext cx="4709159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58468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58468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79"/>
            <a:ext cx="160019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实验数据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0107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0107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599" y="5669279"/>
            <a:ext cx="160019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论文公开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1748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1748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669279"/>
            <a:ext cx="160019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展会展示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结论边界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公开事实不等于授权结论。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审查结构辨析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40280"/>
            <a:ext cx="10149840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2199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2199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9280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300" b="0">
                <a:solidFill>
                  <a:srgbClr val="5C3A26"/>
                </a:solidFill>
                <a:latin typeface="Aptos"/>
              </a:rPr>
              <a:t>公开和审查不是一回事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300" b="0">
                <a:solidFill>
                  <a:srgbClr val="5C3A26"/>
                </a:solidFill>
                <a:latin typeface="Aptos"/>
              </a:rPr>
              <a:t>审查是依法作出判断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3560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3560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0640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300" b="0">
                <a:solidFill>
                  <a:srgbClr val="5C3A26"/>
                </a:solidFill>
                <a:latin typeface="Aptos"/>
              </a:rPr>
              <a:t>三性属于不同分析问题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5330952"/>
            <a:ext cx="4709159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4701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701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早期公开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574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574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168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延迟审查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447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447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041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初步审查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53202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3202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914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实质审查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B91C1C"/>
                </a:solidFill>
                <a:latin typeface="Aptos"/>
              </a:rPr>
              <a:t>别混同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公开是信息呈现，审查是依法判断。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材料成果拆分示范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25296"/>
            <a:ext cx="52852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25296"/>
            <a:ext cx="5285232" cy="91440"/>
          </a:xfrm>
          <a:prstGeom prst="rect">
            <a:avLst/>
          </a:prstGeom>
          <a:solidFill>
            <a:srgbClr val="5C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5C3A26"/>
                </a:solidFill>
                <a:latin typeface="Aptos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4754880" cy="33832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先拆分申请对象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再定位保护客体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最后区分事实与结论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225296"/>
            <a:ext cx="52852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225296"/>
            <a:ext cx="5285232" cy="9144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813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D9773E"/>
                </a:solidFill>
                <a:latin typeface="Aptos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11680"/>
            <a:ext cx="4754880" cy="33832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案例结论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性能优异不能直接推出授权。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三性分别判断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进入专利性分析后，
新颖性看是否存在相同技术方案；
创造性看相对于现有技术是否显而易见；
实用性看能否制造或使用并产生积极效果。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新颖性重在单独对比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创造性重在显而易见性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实用性看可制造可使用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1569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2953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新颖性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29840" y="4892040"/>
            <a:ext cx="1569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70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7000" y="5486400"/>
            <a:ext cx="12953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创造性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4892040"/>
            <a:ext cx="1569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96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5486400"/>
            <a:ext cx="12953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实用性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判断口径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三者不能互相替代。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判断流程图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40280"/>
            <a:ext cx="10149840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2199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2199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9280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300" b="0">
                <a:solidFill>
                  <a:srgbClr val="5C3A26"/>
                </a:solidFill>
                <a:latin typeface="Aptos"/>
              </a:rPr>
              <a:t>对象拆分优先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300" b="0">
                <a:solidFill>
                  <a:srgbClr val="5C3A26"/>
                </a:solidFill>
                <a:latin typeface="Aptos"/>
              </a:rPr>
              <a:t>客体定位是入口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3560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3560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0640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300" b="0">
                <a:solidFill>
                  <a:srgbClr val="5C3A26"/>
                </a:solidFill>
                <a:latin typeface="Aptos"/>
              </a:rPr>
              <a:t>公开事实要单独整理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" y="5212079"/>
            <a:ext cx="113157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422392"/>
            <a:ext cx="91211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1">
                <a:solidFill>
                  <a:srgbClr val="5C3A26"/>
                </a:solidFill>
                <a:latin typeface="Aptos"/>
              </a:rPr>
              <a:t>拆对象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19122" y="5212079"/>
            <a:ext cx="113157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8850" y="5422392"/>
            <a:ext cx="91211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1">
                <a:solidFill>
                  <a:srgbClr val="5C3A26"/>
                </a:solidFill>
                <a:latin typeface="Aptos"/>
              </a:rPr>
              <a:t>定客体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09393" y="5577840"/>
            <a:ext cx="109729" cy="0"/>
          </a:xfrm>
          <a:prstGeom prst="line">
            <a:avLst/>
          </a:prstGeom>
          <a:ln>
            <a:solidFill>
              <a:srgbClr val="D977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87852" y="5212079"/>
            <a:ext cx="113157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7580" y="5422392"/>
            <a:ext cx="91211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1">
                <a:solidFill>
                  <a:srgbClr val="5C3A26"/>
                </a:solidFill>
                <a:latin typeface="Aptos"/>
              </a:rPr>
              <a:t>核对三性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78124" y="5577840"/>
            <a:ext cx="109728" cy="0"/>
          </a:xfrm>
          <a:prstGeom prst="line">
            <a:avLst/>
          </a:prstGeom>
          <a:ln>
            <a:solidFill>
              <a:srgbClr val="D977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56581" y="5212079"/>
            <a:ext cx="113157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6309" y="5422392"/>
            <a:ext cx="91211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000" b="1">
                <a:solidFill>
                  <a:srgbClr val="5C3A26"/>
                </a:solidFill>
                <a:latin typeface="Aptos"/>
              </a:rPr>
              <a:t>记公开事实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46853" y="5577840"/>
            <a:ext cx="109728" cy="0"/>
          </a:xfrm>
          <a:prstGeom prst="line">
            <a:avLst/>
          </a:prstGeom>
          <a:ln>
            <a:solidFill>
              <a:srgbClr val="D977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操作要点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论文、展会、会议披露先单独整理。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基础测评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101498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9692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练习题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47672"/>
            <a:ext cx="96926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5C3A26"/>
                </a:solidFill>
                <a:latin typeface="Aptos"/>
              </a:rPr>
              <a:t>判断题干中哪一项说法最准确：
材料性能优异，就当然等于具备新颖性并能获得专利。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34639"/>
            <a:ext cx="9747504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A. 正确，因为性能优异即可授权</a:t>
            </a:r>
          </a:p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B. 错误，因为要先看客体与三性</a:t>
            </a:r>
          </a:p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C. 正确，只要公开过就能授权</a:t>
            </a:r>
          </a:p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D. 错误，因为专利制度不保护材料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B91C1C"/>
                </a:solidFill>
                <a:latin typeface="Aptos"/>
              </a:rPr>
              <a:t>易错题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性能优异不能直接推出新颖性和授权。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先看客体与三性，再谈授权结论。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本课小结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3444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34416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8988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37160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材料名称不能替代法律分类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05740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16712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1284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19456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公开事实不等于授权结论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制度特征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16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88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88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规范层级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613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29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29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保护客体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05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77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三性区分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收尾金句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0">
                <a:solidFill>
                  <a:srgbClr val="5C3A26"/>
                </a:solidFill>
                <a:latin typeface="Aptos"/>
              </a:rPr>
              <a:t>先画制度地图，再定位保护客体，最后分别看三性。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