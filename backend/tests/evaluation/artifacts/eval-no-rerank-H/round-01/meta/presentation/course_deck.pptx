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大家好，今天我们来探讨专利制度的基础概念。专利制度的核心是独占性、时间性和地域性。它激励发明创造，同时促进技术公开，推动经济发展。我们将从基本概念开始，逐步深入到中国专利制度的具体规定。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假设你是一名专利代理人，面对一个材料研发项目：成果包含配方、制备方法和产品外形，同时遇到竞争对手在先申请的事实。你会先识别保护客体，还是先比较在先资料？排序依据是什么？让我们一起建立清晰的判断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利法第二条明确了三类保护客体。发明和实用新型可适用新颖性、创造性和实用性。外观设计则有其独立的现有设计、明显区别和在先权利规则。接下来我们看第二十二条关于三性的具体规定，以及申请日和优先权的相关条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我们通过一个具体案情来演示。团队研发出锂离子电池复合正极材料，改进包括配方和制备工艺，同时设计了电池壳体的特殊形状。他们在中国申请专利，发现竞争对手的相关申请公开时间晚于本申请日。现在我们一步步来看如何识别客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来看一个清晰的判断流程。首先区分成果属于哪类客体：产品方法属发明，形状构造属实用新型，视觉设计属外观设计。确定客体后，再进入相应的授权条件，并用申请日、公开日和优先权日建立准确的时间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方便记忆，我们可以用一个三栏表：第一栏是对象，即成果属于发明、实用新型还是外观设计；第二栏是三性，即新颖性、创造性和实用性；第三栏是时间，即申请日、公开日和优先权日。遇到优先权问题时，再单独核对外国或本国类型及其手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请你回想一下自己熟悉的材料研发项目。它的核心贡献更接近于材料组成、制备方法、产品构造还是视觉外形？当遇到论文、展会展示或竞争对手的专利申请时，你会先记录哪些日期，并先核对哪一项事实？让我们把这些经验连接到专利判断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让我们来做一个小测评。请判断以下说法是否正确：材料性能提升一定具备创造性吗？竞争对手专利公开日晚于申请日，绝不影响新颖性吗？外国优先权和本国优先权处理方式完全一样吗？答案会在下一页给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把本节的核心知识点整理成一张知识网。专利制度的核心是激励发明创造、促进技术公开和推动经济发展。中国专利制度有三层规范体系：专利法提供基本规则，实施细则补充程序，审查指南细化实践。我们重点建立了保护客体、专利权特征、授权条件入口和时间轴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的要点回顾如下：首先识别保护客体，再确定适用规范和时间基准。新颖性和创造性是发明和实用新型的重要授权条件，但判断对象和作用边界不同。申请日、公开日、优先权日必须分开记录，外国优先权与本国优先权也不能混同。让我们把这些要点记住，为后续的学习打下坚实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1963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0990" y="0"/>
            <a:ext cx="391963" cy="6858000"/>
          </a:xfrm>
          <a:prstGeom prst="rect">
            <a:avLst/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80" y="0"/>
            <a:ext cx="391963" cy="6858000"/>
          </a:xfrm>
          <a:prstGeom prst="rect">
            <a:avLst/>
          </a:prstGeom>
          <a:solidFill>
            <a:srgbClr val="FF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2971" y="0"/>
            <a:ext cx="391963" cy="6858000"/>
          </a:xfrm>
          <a:prstGeom prst="rect">
            <a:avLst/>
          </a:prstGeom>
          <a:solidFill>
            <a:srgbClr val="FF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3961" y="0"/>
            <a:ext cx="391963" cy="6858000"/>
          </a:xfrm>
          <a:prstGeom prst="rect">
            <a:avLst/>
          </a:prstGeom>
          <a:solidFill>
            <a:srgbClr val="FF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4952" y="0"/>
            <a:ext cx="391963" cy="6858000"/>
          </a:xfrm>
          <a:prstGeom prst="rect">
            <a:avLst/>
          </a:prstGeom>
          <a:solidFill>
            <a:srgbClr val="F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5942" y="0"/>
            <a:ext cx="391963" cy="6858000"/>
          </a:xfrm>
          <a:prstGeom prst="rect">
            <a:avLst/>
          </a:prstGeom>
          <a:solidFill>
            <a:srgbClr val="FFF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6933" y="0"/>
            <a:ext cx="391963" cy="68580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47923" y="0"/>
            <a:ext cx="391963" cy="6858000"/>
          </a:xfrm>
          <a:prstGeom prst="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8914" y="0"/>
            <a:ext cx="391963" cy="6858000"/>
          </a:xfrm>
          <a:prstGeom prst="rect">
            <a:avLst/>
          </a:prstGeom>
          <a:solidFill>
            <a:srgbClr val="FF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09904" y="0"/>
            <a:ext cx="391963" cy="6858000"/>
          </a:xfrm>
          <a:prstGeom prst="rect">
            <a:avLst/>
          </a:prstGeom>
          <a:solidFill>
            <a:srgbClr val="FF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0895" y="0"/>
            <a:ext cx="391963" cy="6858000"/>
          </a:xfrm>
          <a:prstGeom prst="rect">
            <a:avLst/>
          </a:prstGeom>
          <a:solidFill>
            <a:srgbClr val="FF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1885" y="0"/>
            <a:ext cx="391963" cy="6858000"/>
          </a:xfrm>
          <a:prstGeom prst="rect">
            <a:avLst/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2876" y="0"/>
            <a:ext cx="391963" cy="6858000"/>
          </a:xfrm>
          <a:prstGeom prst="rect">
            <a:avLst/>
          </a:prstGeom>
          <a:solidFill>
            <a:srgbClr val="FFF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3866" y="0"/>
            <a:ext cx="391963" cy="68580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4857" y="0"/>
            <a:ext cx="391963" cy="6858000"/>
          </a:xfrm>
          <a:prstGeom prst="rect">
            <a:avLst/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5847" y="0"/>
            <a:ext cx="391963" cy="6858000"/>
          </a:xfrm>
          <a:prstGeom prst="rect">
            <a:avLst/>
          </a:prstGeom>
          <a:solidFill>
            <a:srgbClr val="FF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6838" y="0"/>
            <a:ext cx="391963" cy="6858000"/>
          </a:xfrm>
          <a:prstGeom prst="rect">
            <a:avLst/>
          </a:prstGeom>
          <a:solidFill>
            <a:srgbClr val="FFE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7828" y="0"/>
            <a:ext cx="391963" cy="6858000"/>
          </a:xfrm>
          <a:prstGeom prst="rect">
            <a:avLst/>
          </a:prstGeom>
          <a:solidFill>
            <a:srgbClr val="FF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38819" y="0"/>
            <a:ext cx="391963" cy="6858000"/>
          </a:xfrm>
          <a:prstGeom prst="rect">
            <a:avLst/>
          </a:prstGeom>
          <a:solidFill>
            <a:srgbClr val="FF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19809" y="0"/>
            <a:ext cx="391963" cy="6858000"/>
          </a:xfrm>
          <a:prstGeom prst="rect">
            <a:avLst/>
          </a:prstGeom>
          <a:solidFill>
            <a:srgbClr val="F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0799" y="0"/>
            <a:ext cx="391963" cy="6858000"/>
          </a:xfrm>
          <a:prstGeom prst="rect">
            <a:avLst/>
          </a:prstGeom>
          <a:solidFill>
            <a:srgbClr val="F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1790" y="0"/>
            <a:ext cx="391963" cy="6858000"/>
          </a:xfrm>
          <a:prstGeom prst="rect">
            <a:avLst/>
          </a:prstGeom>
          <a:solidFill>
            <a:srgbClr val="FFE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62780" y="0"/>
            <a:ext cx="391963" cy="6858000"/>
          </a:xfrm>
          <a:prstGeom prst="rect">
            <a:avLst/>
          </a:prstGeom>
          <a:solidFill>
            <a:srgbClr val="FF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3771" y="0"/>
            <a:ext cx="391963" cy="6858000"/>
          </a:xfrm>
          <a:prstGeom prst="rect">
            <a:avLst/>
          </a:prstGeom>
          <a:solidFill>
            <a:srgbClr val="FF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24761" y="0"/>
            <a:ext cx="391963" cy="6858000"/>
          </a:xfrm>
          <a:prstGeom prst="rect">
            <a:avLst/>
          </a:prstGeom>
          <a:solidFill>
            <a:srgbClr val="FF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05752" y="0"/>
            <a:ext cx="391963" cy="6858000"/>
          </a:xfrm>
          <a:prstGeom prst="rect">
            <a:avLst/>
          </a:prstGeom>
          <a:solidFill>
            <a:srgbClr val="FFE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86742" y="0"/>
            <a:ext cx="391963" cy="6858000"/>
          </a:xfrm>
          <a:prstGeom prst="rect">
            <a:avLst/>
          </a:prstGeom>
          <a:solidFill>
            <a:srgbClr val="FF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67733" y="0"/>
            <a:ext cx="391963" cy="6858000"/>
          </a:xfrm>
          <a:prstGeom prst="rect">
            <a:avLst/>
          </a:prstGeom>
          <a:solidFill>
            <a:srgbClr val="FF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048723" y="0"/>
            <a:ext cx="391963" cy="6858000"/>
          </a:xfrm>
          <a:prstGeom prst="rect">
            <a:avLst/>
          </a:prstGeom>
          <a:solidFill>
            <a:srgbClr val="FFE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29714" y="0"/>
            <a:ext cx="391963" cy="6858000"/>
          </a:xfrm>
          <a:prstGeom prst="rect">
            <a:avLst/>
          </a:prstGeom>
          <a:solidFill>
            <a:srgbClr val="FFE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810704" y="0"/>
            <a:ext cx="391963" cy="6858000"/>
          </a:xfrm>
          <a:prstGeom prst="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960120"/>
            <a:ext cx="685800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1298448"/>
            <a:ext cx="2377440" cy="54864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1508760"/>
            <a:ext cx="6309360" cy="2011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3600" b="0">
                <a:solidFill>
                  <a:srgbClr val="5C3A26"/>
                </a:solidFill>
                <a:latin typeface="Aptos"/>
              </a:rPr>
              <a:t>专利制度的基础概念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611880"/>
            <a:ext cx="63093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0">
                <a:solidFill>
                  <a:srgbClr val="9A4A1C"/>
                </a:solidFill>
                <a:latin typeface="Aptos"/>
              </a:rPr>
              <a:t>独占性、时间性、地域性与三类保护客体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92947" y="2194560"/>
            <a:ext cx="1199692" cy="201168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84080" y="2194560"/>
            <a:ext cx="1199692" cy="20116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10928" y="2194560"/>
            <a:ext cx="54864" cy="2011680"/>
          </a:xfrm>
          <a:prstGeom prst="rect">
            <a:avLst/>
          </a:prstGeom>
          <a:solidFill>
            <a:srgbClr val="9A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93531" y="2395728"/>
            <a:ext cx="998524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84663" y="2395728"/>
            <a:ext cx="998524" cy="36576"/>
          </a:xfrm>
          <a:prstGeom prst="rect">
            <a:avLst/>
          </a:prstGeom>
          <a:solidFill>
            <a:srgbClr val="9A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93531" y="2688336"/>
            <a:ext cx="998524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84663" y="2688336"/>
            <a:ext cx="998524" cy="36576"/>
          </a:xfrm>
          <a:prstGeom prst="rect">
            <a:avLst/>
          </a:prstGeom>
          <a:solidFill>
            <a:srgbClr val="9A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93531" y="2980944"/>
            <a:ext cx="998524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84663" y="2980944"/>
            <a:ext cx="998524" cy="36576"/>
          </a:xfrm>
          <a:prstGeom prst="rect">
            <a:avLst/>
          </a:prstGeom>
          <a:solidFill>
            <a:srgbClr val="9A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612648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000" b="0">
                <a:solidFill>
                  <a:srgbClr val="9A4A1C"/>
                </a:solidFill>
                <a:latin typeface="Aptos"/>
              </a:rPr>
              <a:t>PATENT TUTOR · 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457200"/>
            <a:ext cx="640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材料研发成果的专利入口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4709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9728" cy="41148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64592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法条锚定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075688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200" b="1">
                <a:solidFill>
                  <a:srgbClr val="5C3A26"/>
                </a:solidFill>
                <a:latin typeface="Aptos"/>
              </a:rPr>
              <a:t>法律依据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651760"/>
            <a:ext cx="4160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某材料研发团队完成了一种固态电池硫化物电解质薄膜。配方和制备方法带来性能改善，同时设计了电池壳体的特殊外形。负责人准备在展会展示样品，但竞争对手一份相关专利申请可能早于本团队提出，只是公开时间较晚。团队同时面对几个入口问题：成果属于哪种专利客体，公开和申请的日期如何记录，以及后续应当从新颖性还是创造性角度分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17320"/>
            <a:ext cx="5440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1">
                <a:solidFill>
                  <a:srgbClr val="5C3A26"/>
                </a:solidFill>
                <a:latin typeface="Aptos"/>
              </a:rPr>
              <a:t>记忆要点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4754880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成果需拆分识别保护客体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需记录申请日、公开日和优先权日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新颖性与创造性判断有明确边界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先拆分事实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配方、方法、外形分开看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B91C1C"/>
                </a:solidFill>
                <a:latin typeface="Aptos"/>
              </a:rPr>
              <a:t>避免混同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不要先看性能改善就下结论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法条锚定：客体与三性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4709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9728" cy="41148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64592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法条锚定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075688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5C3A26"/>
                </a:solidFill>
                <a:latin typeface="Aptos"/>
              </a:rPr>
              <a:t>《专利法》第二条；《专利法》第二十二条；《专利法》第二十八条至第三十条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651760"/>
            <a:ext cx="4160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600" b="0">
                <a:solidFill>
                  <a:srgbClr val="5C3A26"/>
                </a:solidFill>
                <a:latin typeface="Aptos"/>
              </a:rPr>
              <a:t>先定客体，再定三性与时间基准。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17320"/>
            <a:ext cx="5440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1">
                <a:solidFill>
                  <a:srgbClr val="5C3A26"/>
                </a:solidFill>
                <a:latin typeface="Aptos"/>
              </a:rPr>
              <a:t>记忆要点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4754880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发明客体聚焦技术方案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实用新型客体聚焦形状构造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外观设计客体聚焦视觉设计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三性规定仅适用于发明和实用新型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第二条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三类保护客体的入口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发明：产品、方法或其改进的技术方案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8090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525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0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实用新型：产品形状、构造或其结合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92540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97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9700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外观设计：产品视觉设计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0698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4414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4414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三性只适用于发明和实用新型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从材料事实到专利判断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25296"/>
            <a:ext cx="528523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25296"/>
            <a:ext cx="5285232" cy="91440"/>
          </a:xfrm>
          <a:prstGeom prst="rect">
            <a:avLst/>
          </a:prstGeom>
          <a:solidFill>
            <a:srgbClr val="5C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800" b="1">
                <a:solidFill>
                  <a:srgbClr val="5C3A26"/>
                </a:solidFill>
                <a:latin typeface="Aptos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4754880" cy="338328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先拆分事实再识别客体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配方工艺属发明客体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形状构造可能属实用新型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记录申请日、公开日和优先权日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225296"/>
            <a:ext cx="528523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225296"/>
            <a:ext cx="5285232" cy="9144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48132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800" b="1">
                <a:solidFill>
                  <a:srgbClr val="D9773E"/>
                </a:solidFill>
                <a:latin typeface="Aptos"/>
              </a:rPr>
              <a:t>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11680"/>
            <a:ext cx="4754880" cy="338328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60120" y="5330952"/>
            <a:ext cx="4709159" cy="45720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47013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7013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配方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5743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5743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91689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制备工艺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84473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4473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0419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壳体形状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53202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3202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9149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视觉外形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材料专利基础判断流程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240280"/>
            <a:ext cx="10149840" cy="45720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55063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5063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3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① 成果主要体现产品、方法或者其改进的技术方案 → 按发明客体方向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6472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② 成果主要体现产品的形状、构造或者其结合 → 按实用新型客体方向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79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000" b="0">
                <a:solidFill>
                  <a:srgbClr val="5C3A26"/>
                </a:solidFill>
                <a:latin typeface="Aptos"/>
              </a:rPr>
              <a:t>③ 成果主要体现产品整体或局部的视觉设计 → 按外观设计客体方向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④ 已确定发明或实用新型 → 记录申请日、公开日、在先申请日和优先权日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0696" y="2057400"/>
            <a:ext cx="365760" cy="365760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0696" y="2148840"/>
            <a:ext cx="3657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7776" y="26060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⑤ 资料在申请日前公开或特定在先申请 → 分别进入现有技术或特定在先申请分析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5330952"/>
            <a:ext cx="4709159" cy="45720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47013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7013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识别客体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5743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5743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91689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记录日期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84473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84473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0419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0">
                <a:solidFill>
                  <a:srgbClr val="5C3A26"/>
                </a:solidFill>
                <a:latin typeface="Aptos"/>
              </a:rPr>
              <a:t>核对在先资料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53202" y="5148072"/>
            <a:ext cx="329184" cy="329184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53202" y="5230368"/>
            <a:ext cx="3291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9149" y="5669279"/>
            <a:ext cx="117728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200" b="0">
                <a:solidFill>
                  <a:srgbClr val="5C3A26"/>
                </a:solidFill>
                <a:latin typeface="Aptos"/>
              </a:rPr>
              <a:t>再谈创造性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关键提醒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性能改善不能直接替代创造性分析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客体、三性与时间轴速记表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25296"/>
            <a:ext cx="528523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25296"/>
            <a:ext cx="5285232" cy="91440"/>
          </a:xfrm>
          <a:prstGeom prst="rect">
            <a:avLst/>
          </a:prstGeom>
          <a:solidFill>
            <a:srgbClr val="5C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800" b="1">
                <a:solidFill>
                  <a:srgbClr val="5C3A26"/>
                </a:solidFill>
                <a:latin typeface="Aptos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4754880" cy="338328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对象栏：技对应发明、构对应实用新型、形对应外观设计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三性栏：新颖性、创造性、实用性含义不同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时间栏：分别记录申请日、公开日和优先权日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外国优先权与本国优先权不能混同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225296"/>
            <a:ext cx="528523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225296"/>
            <a:ext cx="5285232" cy="9144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48132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800" b="1">
                <a:solidFill>
                  <a:srgbClr val="D9773E"/>
                </a:solidFill>
                <a:latin typeface="Aptos"/>
              </a:rPr>
              <a:t>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11680"/>
            <a:ext cx="4754880" cy="338328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400300" y="5143500"/>
            <a:ext cx="1828800" cy="640080"/>
          </a:xfrm>
          <a:prstGeom prst="roundRect">
            <a:avLst/>
          </a:prstGeom>
          <a:solidFill>
            <a:srgbClr val="5C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7460" y="5353812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三栏记忆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83479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66359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技=发明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19" y="4983479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59" y="5166359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构=实用新型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120640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形=外观设计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19" y="5120640"/>
            <a:ext cx="1920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59" y="5303520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新=新颖性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400" b="0">
                <a:solidFill>
                  <a:srgbClr val="5C3A26"/>
                </a:solidFill>
                <a:latin typeface="Aptos"/>
              </a:rPr>
              <a:t>申请日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78090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525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250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400" b="0">
                <a:solidFill>
                  <a:srgbClr val="5C3A26"/>
                </a:solidFill>
                <a:latin typeface="Aptos"/>
              </a:rPr>
              <a:t>公开日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92540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297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9700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0">
                <a:solidFill>
                  <a:srgbClr val="5C3A26"/>
                </a:solidFill>
                <a:latin typeface="Aptos"/>
              </a:rPr>
              <a:t>优先权日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0698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4414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4414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在先申请日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研发经验与专利判断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17320"/>
            <a:ext cx="4709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9728" cy="41148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164592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法条锚定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075688"/>
            <a:ext cx="4160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200" b="1">
                <a:solidFill>
                  <a:srgbClr val="5C3A26"/>
                </a:solidFill>
                <a:latin typeface="Aptos"/>
              </a:rPr>
              <a:t>法律依据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651760"/>
            <a:ext cx="4160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600" b="0">
                <a:solidFill>
                  <a:srgbClr val="5C3A26"/>
                </a:solidFill>
                <a:latin typeface="Aptos"/>
              </a:rPr>
              <a:t>回想一项你熟悉的材料研发成果：其核心贡献更接近材料组成、制备方法、产品构造还是视觉外形？若发现论文、展会展示和竞争对手专利申请，你会分别记录哪些日期并先核对哪一项事实？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417320"/>
            <a:ext cx="5440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1">
                <a:solidFill>
                  <a:srgbClr val="5C3A26"/>
                </a:solidFill>
                <a:latin typeface="Aptos"/>
              </a:rPr>
              <a:t>记忆要点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4754880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技术特征是产品、方法、形状还是视觉设计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权利要求保护完整技术方案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申请日、公开日、优先权日的法律作用不同</a:t>
            </a:r>
          </a:p>
          <a:p>
            <a:pPr>
              <a:spcAft>
                <a:spcPts val="700"/>
              </a:spcAft>
              <a:defRPr ea="Microsoft YaHei" sz="1600">
                <a:solidFill>
                  <a:srgbClr val="5C3A26"/>
                </a:solidFill>
                <a:latin typeface="Aptos"/>
              </a:defRPr>
            </a:pPr>
            <a:r>
              <a:rPr sz="1600"/>
              <a:t>• 外国优先权与本国优先权不能混同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先问自己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核心贡献更接近什么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B91C1C"/>
                </a:solidFill>
                <a:latin typeface="Aptos"/>
              </a:rPr>
              <a:t>日期分开记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研发完成日不等于申请日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基础概念与时间边界测评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325880"/>
            <a:ext cx="101498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08760"/>
            <a:ext cx="9692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200" b="1">
                <a:solidFill>
                  <a:srgbClr val="D9773E"/>
                </a:solidFill>
                <a:latin typeface="Aptos"/>
              </a:rPr>
              <a:t>练习题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47672"/>
            <a:ext cx="96926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500" b="1">
                <a:solidFill>
                  <a:srgbClr val="5C3A26"/>
                </a:solidFill>
                <a:latin typeface="Aptos"/>
              </a:rPr>
              <a:t>请判断以下说法是否正确：
1. 材料性能提升一定具备创造性。
2. 竞争对手专利公开日晚于申请日，绝不影响新颖性。
3. 外国优先权和本国优先权处理方式完全一样。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34639"/>
            <a:ext cx="9747504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600"/>
              </a:spcAft>
              <a:defRPr ea="Microsoft YaHei" sz="1400">
                <a:solidFill>
                  <a:srgbClr val="5C3A26"/>
                </a:solidFill>
                <a:latin typeface="Aptos"/>
              </a:defRPr>
            </a:pPr>
            <a:r>
              <a:rPr sz="1400"/>
              <a:t>• A. 仅性能提升即可认定创造性</a:t>
            </a:r>
          </a:p>
          <a:p>
            <a:pPr>
              <a:spcAft>
                <a:spcPts val="600"/>
              </a:spcAft>
              <a:defRPr ea="Microsoft YaHei" sz="1400">
                <a:solidFill>
                  <a:srgbClr val="5C3A26"/>
                </a:solidFill>
                <a:latin typeface="Aptos"/>
              </a:defRPr>
            </a:pPr>
            <a:r>
              <a:rPr sz="1400"/>
              <a:t>• B. 公开日晚于申请日一定不影响新颖性</a:t>
            </a:r>
          </a:p>
          <a:p>
            <a:pPr>
              <a:spcAft>
                <a:spcPts val="600"/>
              </a:spcAft>
              <a:defRPr ea="Microsoft YaHei" sz="1400">
                <a:solidFill>
                  <a:srgbClr val="5C3A26"/>
                </a:solidFill>
                <a:latin typeface="Aptos"/>
              </a:defRPr>
            </a:pPr>
            <a:r>
              <a:rPr sz="1400"/>
              <a:t>• C. 外国优先权与本国优先权相同</a:t>
            </a:r>
          </a:p>
          <a:p>
            <a:pPr>
              <a:spcAft>
                <a:spcPts val="600"/>
              </a:spcAft>
              <a:defRPr ea="Microsoft YaHei" sz="1400">
                <a:solidFill>
                  <a:srgbClr val="5C3A26"/>
                </a:solidFill>
                <a:latin typeface="Aptos"/>
              </a:defRPr>
            </a:pPr>
            <a:r>
              <a:rPr sz="1400"/>
              <a:t>• D. 以上说法均不正确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422392"/>
            <a:ext cx="9692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B91C1C"/>
                </a:solidFill>
                <a:latin typeface="Aptos"/>
              </a:rPr>
              <a:t>易错点：性能改善不能替代创造性分析；公开日晚于申请日不一定排除特定在先申请；外国优先权与本国优先权处理方式不同。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892040"/>
            <a:ext cx="91440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B91C1C"/>
                </a:solidFill>
                <a:latin typeface="Aptos"/>
              </a:rPr>
              <a:t>易错点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性能提升不等于创造性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答案解析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D。三条说法都不成立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5285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312"/>
            <a:ext cx="12191695" cy="225285"/>
          </a:xfrm>
          <a:prstGeom prst="rect">
            <a:avLst/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8625"/>
            <a:ext cx="12191695" cy="225285"/>
          </a:xfrm>
          <a:prstGeom prst="rect">
            <a:avLst/>
          </a:prstGeom>
          <a:solidFill>
            <a:srgbClr val="FF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2937"/>
            <a:ext cx="12191695" cy="225285"/>
          </a:xfrm>
          <a:prstGeom prst="rect">
            <a:avLst/>
          </a:prstGeom>
          <a:solidFill>
            <a:srgbClr val="FF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57250"/>
            <a:ext cx="12191695" cy="225285"/>
          </a:xfrm>
          <a:prstGeom prst="rect">
            <a:avLst/>
          </a:prstGeom>
          <a:solidFill>
            <a:srgbClr val="FF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71562"/>
            <a:ext cx="12191695" cy="225285"/>
          </a:xfrm>
          <a:prstGeom prst="rect">
            <a:avLst/>
          </a:prstGeom>
          <a:solidFill>
            <a:srgbClr val="F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85875"/>
            <a:ext cx="12191695" cy="225285"/>
          </a:xfrm>
          <a:prstGeom prst="rect">
            <a:avLst/>
          </a:prstGeom>
          <a:solidFill>
            <a:srgbClr val="FFF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00187"/>
            <a:ext cx="12191695" cy="225285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714500"/>
            <a:ext cx="12191695" cy="225285"/>
          </a:xfrm>
          <a:prstGeom prst="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928812"/>
            <a:ext cx="12191695" cy="225285"/>
          </a:xfrm>
          <a:prstGeom prst="rect">
            <a:avLst/>
          </a:prstGeom>
          <a:solidFill>
            <a:srgbClr val="FF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143125"/>
            <a:ext cx="12191695" cy="225285"/>
          </a:xfrm>
          <a:prstGeom prst="rect">
            <a:avLst/>
          </a:prstGeom>
          <a:solidFill>
            <a:srgbClr val="FF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357437"/>
            <a:ext cx="12191695" cy="225285"/>
          </a:xfrm>
          <a:prstGeom prst="rect">
            <a:avLst/>
          </a:prstGeom>
          <a:solidFill>
            <a:srgbClr val="FF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571750"/>
            <a:ext cx="12191695" cy="225285"/>
          </a:xfrm>
          <a:prstGeom prst="rect">
            <a:avLst/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786062"/>
            <a:ext cx="12191695" cy="225285"/>
          </a:xfrm>
          <a:prstGeom prst="rect">
            <a:avLst/>
          </a:prstGeom>
          <a:solidFill>
            <a:srgbClr val="FFF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000375"/>
            <a:ext cx="12191695" cy="225285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214687"/>
            <a:ext cx="12191695" cy="225285"/>
          </a:xfrm>
          <a:prstGeom prst="rect">
            <a:avLst/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429000"/>
            <a:ext cx="12191695" cy="225285"/>
          </a:xfrm>
          <a:prstGeom prst="rect">
            <a:avLst/>
          </a:prstGeom>
          <a:solidFill>
            <a:srgbClr val="FF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43312"/>
            <a:ext cx="12191695" cy="225285"/>
          </a:xfrm>
          <a:prstGeom prst="rect">
            <a:avLst/>
          </a:prstGeom>
          <a:solidFill>
            <a:srgbClr val="FFE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857625"/>
            <a:ext cx="12191695" cy="225285"/>
          </a:xfrm>
          <a:prstGeom prst="rect">
            <a:avLst/>
          </a:prstGeom>
          <a:solidFill>
            <a:srgbClr val="FF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071937"/>
            <a:ext cx="12191695" cy="225285"/>
          </a:xfrm>
          <a:prstGeom prst="rect">
            <a:avLst/>
          </a:prstGeom>
          <a:solidFill>
            <a:srgbClr val="FF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286250"/>
            <a:ext cx="12191695" cy="225285"/>
          </a:xfrm>
          <a:prstGeom prst="rect">
            <a:avLst/>
          </a:prstGeom>
          <a:solidFill>
            <a:srgbClr val="F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500562"/>
            <a:ext cx="12191695" cy="225285"/>
          </a:xfrm>
          <a:prstGeom prst="rect">
            <a:avLst/>
          </a:prstGeom>
          <a:solidFill>
            <a:srgbClr val="F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714875"/>
            <a:ext cx="12191695" cy="225285"/>
          </a:xfrm>
          <a:prstGeom prst="rect">
            <a:avLst/>
          </a:prstGeom>
          <a:solidFill>
            <a:srgbClr val="FFE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4929187"/>
            <a:ext cx="12191695" cy="225285"/>
          </a:xfrm>
          <a:prstGeom prst="rect">
            <a:avLst/>
          </a:prstGeom>
          <a:solidFill>
            <a:srgbClr val="FF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143500"/>
            <a:ext cx="12191695" cy="225285"/>
          </a:xfrm>
          <a:prstGeom prst="rect">
            <a:avLst/>
          </a:prstGeom>
          <a:solidFill>
            <a:srgbClr val="FF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357812"/>
            <a:ext cx="12191695" cy="225285"/>
          </a:xfrm>
          <a:prstGeom prst="rect">
            <a:avLst/>
          </a:prstGeom>
          <a:solidFill>
            <a:srgbClr val="FF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572125"/>
            <a:ext cx="12191695" cy="225285"/>
          </a:xfrm>
          <a:prstGeom prst="rect">
            <a:avLst/>
          </a:prstGeom>
          <a:solidFill>
            <a:srgbClr val="FFE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786437"/>
            <a:ext cx="12191695" cy="225285"/>
          </a:xfrm>
          <a:prstGeom prst="rect">
            <a:avLst/>
          </a:prstGeom>
          <a:solidFill>
            <a:srgbClr val="FF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000750"/>
            <a:ext cx="12191695" cy="225285"/>
          </a:xfrm>
          <a:prstGeom prst="rect">
            <a:avLst/>
          </a:prstGeom>
          <a:solidFill>
            <a:srgbClr val="FF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215062"/>
            <a:ext cx="12191695" cy="225285"/>
          </a:xfrm>
          <a:prstGeom prst="rect">
            <a:avLst/>
          </a:prstGeom>
          <a:solidFill>
            <a:srgbClr val="FFE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29375"/>
            <a:ext cx="12191695" cy="225285"/>
          </a:xfrm>
          <a:prstGeom prst="rect">
            <a:avLst/>
          </a:prstGeom>
          <a:solidFill>
            <a:srgbClr val="FFE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643687"/>
            <a:ext cx="12191695" cy="225285"/>
          </a:xfrm>
          <a:prstGeom prst="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专利法律制度基础知识网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09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" y="123444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2688" y="134416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138988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1328" y="137160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保护客体：发明、实用新型和外观设计三类不同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" y="205740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2688" y="216712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221284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1328" y="219456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专利权特征：独占性、时间性和地域性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" y="288036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32688" y="299008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" y="303580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81328" y="301752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制度体系：专利法提供规则，实施细则补充程序，审查指南细化实践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6384" y="370332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32688" y="381304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" y="385876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81328" y="384048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授权条件：发明和实用新型的三性（新、创、实），外观设计有现有设计等规则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6384" y="452628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32688" y="463600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468172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81328" y="466344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时间轴基础：现有技术原则上看申请日以前，优先权时另行核对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7240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0">
                <a:solidFill>
                  <a:srgbClr val="5C3A26"/>
                </a:solidFill>
                <a:latin typeface="Aptos"/>
              </a:rPr>
              <a:t>保护客体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09168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2884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884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专利权特征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0613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4329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4329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1100" b="0">
                <a:solidFill>
                  <a:srgbClr val="5C3A26"/>
                </a:solidFill>
                <a:latin typeface="Aptos"/>
              </a:rPr>
              <a:t>授权条件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72058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5774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5774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时间轴基础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制度要义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公开与保护之间的交换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5285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312"/>
            <a:ext cx="12191695" cy="225285"/>
          </a:xfrm>
          <a:prstGeom prst="rect">
            <a:avLst/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8625"/>
            <a:ext cx="12191695" cy="225285"/>
          </a:xfrm>
          <a:prstGeom prst="rect">
            <a:avLst/>
          </a:prstGeom>
          <a:solidFill>
            <a:srgbClr val="FF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2937"/>
            <a:ext cx="12191695" cy="225285"/>
          </a:xfrm>
          <a:prstGeom prst="rect">
            <a:avLst/>
          </a:prstGeom>
          <a:solidFill>
            <a:srgbClr val="FF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57250"/>
            <a:ext cx="12191695" cy="225285"/>
          </a:xfrm>
          <a:prstGeom prst="rect">
            <a:avLst/>
          </a:prstGeom>
          <a:solidFill>
            <a:srgbClr val="FF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71562"/>
            <a:ext cx="12191695" cy="225285"/>
          </a:xfrm>
          <a:prstGeom prst="rect">
            <a:avLst/>
          </a:prstGeom>
          <a:solidFill>
            <a:srgbClr val="F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85875"/>
            <a:ext cx="12191695" cy="225285"/>
          </a:xfrm>
          <a:prstGeom prst="rect">
            <a:avLst/>
          </a:prstGeom>
          <a:solidFill>
            <a:srgbClr val="FFF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00187"/>
            <a:ext cx="12191695" cy="225285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714500"/>
            <a:ext cx="12191695" cy="225285"/>
          </a:xfrm>
          <a:prstGeom prst="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928812"/>
            <a:ext cx="12191695" cy="225285"/>
          </a:xfrm>
          <a:prstGeom prst="rect">
            <a:avLst/>
          </a:prstGeom>
          <a:solidFill>
            <a:srgbClr val="FF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143125"/>
            <a:ext cx="12191695" cy="225285"/>
          </a:xfrm>
          <a:prstGeom prst="rect">
            <a:avLst/>
          </a:prstGeom>
          <a:solidFill>
            <a:srgbClr val="FF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357437"/>
            <a:ext cx="12191695" cy="225285"/>
          </a:xfrm>
          <a:prstGeom prst="rect">
            <a:avLst/>
          </a:prstGeom>
          <a:solidFill>
            <a:srgbClr val="FF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571750"/>
            <a:ext cx="12191695" cy="225285"/>
          </a:xfrm>
          <a:prstGeom prst="rect">
            <a:avLst/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786062"/>
            <a:ext cx="12191695" cy="225285"/>
          </a:xfrm>
          <a:prstGeom prst="rect">
            <a:avLst/>
          </a:prstGeom>
          <a:solidFill>
            <a:srgbClr val="FFF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000375"/>
            <a:ext cx="12191695" cy="225285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214687"/>
            <a:ext cx="12191695" cy="225285"/>
          </a:xfrm>
          <a:prstGeom prst="rect">
            <a:avLst/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429000"/>
            <a:ext cx="12191695" cy="225285"/>
          </a:xfrm>
          <a:prstGeom prst="rect">
            <a:avLst/>
          </a:prstGeom>
          <a:solidFill>
            <a:srgbClr val="FF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43312"/>
            <a:ext cx="12191695" cy="225285"/>
          </a:xfrm>
          <a:prstGeom prst="rect">
            <a:avLst/>
          </a:prstGeom>
          <a:solidFill>
            <a:srgbClr val="FFE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857625"/>
            <a:ext cx="12191695" cy="225285"/>
          </a:xfrm>
          <a:prstGeom prst="rect">
            <a:avLst/>
          </a:prstGeom>
          <a:solidFill>
            <a:srgbClr val="FF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071937"/>
            <a:ext cx="12191695" cy="225285"/>
          </a:xfrm>
          <a:prstGeom prst="rect">
            <a:avLst/>
          </a:prstGeom>
          <a:solidFill>
            <a:srgbClr val="FF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286250"/>
            <a:ext cx="12191695" cy="225285"/>
          </a:xfrm>
          <a:prstGeom prst="rect">
            <a:avLst/>
          </a:prstGeom>
          <a:solidFill>
            <a:srgbClr val="F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500562"/>
            <a:ext cx="12191695" cy="225285"/>
          </a:xfrm>
          <a:prstGeom prst="rect">
            <a:avLst/>
          </a:prstGeom>
          <a:solidFill>
            <a:srgbClr val="FF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714875"/>
            <a:ext cx="12191695" cy="225285"/>
          </a:xfrm>
          <a:prstGeom prst="rect">
            <a:avLst/>
          </a:prstGeom>
          <a:solidFill>
            <a:srgbClr val="FFE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4929187"/>
            <a:ext cx="12191695" cy="225285"/>
          </a:xfrm>
          <a:prstGeom prst="rect">
            <a:avLst/>
          </a:prstGeom>
          <a:solidFill>
            <a:srgbClr val="FF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143500"/>
            <a:ext cx="12191695" cy="225285"/>
          </a:xfrm>
          <a:prstGeom prst="rect">
            <a:avLst/>
          </a:prstGeom>
          <a:solidFill>
            <a:srgbClr val="FFE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357812"/>
            <a:ext cx="12191695" cy="225285"/>
          </a:xfrm>
          <a:prstGeom prst="rect">
            <a:avLst/>
          </a:prstGeom>
          <a:solidFill>
            <a:srgbClr val="FF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572125"/>
            <a:ext cx="12191695" cy="225285"/>
          </a:xfrm>
          <a:prstGeom prst="rect">
            <a:avLst/>
          </a:prstGeom>
          <a:solidFill>
            <a:srgbClr val="FFE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786437"/>
            <a:ext cx="12191695" cy="225285"/>
          </a:xfrm>
          <a:prstGeom prst="rect">
            <a:avLst/>
          </a:prstGeom>
          <a:solidFill>
            <a:srgbClr val="FF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000750"/>
            <a:ext cx="12191695" cy="225285"/>
          </a:xfrm>
          <a:prstGeom prst="rect">
            <a:avLst/>
          </a:prstGeom>
          <a:solidFill>
            <a:srgbClr val="FF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215062"/>
            <a:ext cx="12191695" cy="225285"/>
          </a:xfrm>
          <a:prstGeom prst="rect">
            <a:avLst/>
          </a:prstGeom>
          <a:solidFill>
            <a:srgbClr val="FFE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29375"/>
            <a:ext cx="12191695" cy="225285"/>
          </a:xfrm>
          <a:prstGeom prst="rect">
            <a:avLst/>
          </a:prstGeom>
          <a:solidFill>
            <a:srgbClr val="FFE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643687"/>
            <a:ext cx="12191695" cy="225285"/>
          </a:xfrm>
          <a:prstGeom prst="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10896"/>
            <a:ext cx="658368" cy="6400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38912"/>
            <a:ext cx="10424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2300" b="1">
                <a:solidFill>
                  <a:srgbClr val="5C3A26"/>
                </a:solidFill>
                <a:latin typeface="Aptos"/>
              </a:rPr>
              <a:t>本节小结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45720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ea="Microsoft YaHei" sz="1000" b="0">
                <a:solidFill>
                  <a:srgbClr val="9A4A1C"/>
                </a:solidFill>
                <a:latin typeface="Aptos"/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686032" y="0"/>
            <a:ext cx="502920" cy="109728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68912" y="109728"/>
            <a:ext cx="320040" cy="73152"/>
          </a:xfrm>
          <a:prstGeom prst="rect">
            <a:avLst/>
          </a:prstGeom>
          <a:solidFill>
            <a:srgbClr val="8B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0" y="62910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0">
                <a:solidFill>
                  <a:srgbClr val="9A4A1C"/>
                </a:solidFill>
                <a:latin typeface="Aptos"/>
              </a:rPr>
              <a:t>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" y="123444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2688" y="134416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138988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1328" y="137160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《专利法》第二条明确三类保护客体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" y="205740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2688" y="216712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221284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1328" y="219456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《专利法》第二十二条规定发明和实用新型的三性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" y="288036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32688" y="299008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" y="303580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81328" y="301752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《专利法》第二十八条至第三十条规定申请日和优先权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6384" y="3703320"/>
            <a:ext cx="10515600" cy="585216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32688" y="3813048"/>
            <a:ext cx="347472" cy="347472"/>
          </a:xfrm>
          <a:prstGeom prst="round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" y="3858768"/>
            <a:ext cx="347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81328" y="3840480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300" b="0">
                <a:solidFill>
                  <a:srgbClr val="5C3A26"/>
                </a:solidFill>
                <a:latin typeface="Aptos"/>
              </a:rPr>
              <a:t>分析在先资料时必须建立准确的时间轴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先识别客体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09168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2884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2884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再定时间基准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0613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4329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4329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新颖性与创造性分开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20589" y="4892040"/>
            <a:ext cx="113156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57749" y="502920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900" b="1">
                <a:solidFill>
                  <a:srgbClr val="D9773E"/>
                </a:solidFill>
                <a:latin typeface="Aptos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57749" y="5486400"/>
            <a:ext cx="85724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ea="Microsoft YaHei" sz="900" b="0">
                <a:solidFill>
                  <a:srgbClr val="5C3A26"/>
                </a:solidFill>
                <a:latin typeface="Aptos"/>
              </a:rPr>
              <a:t>优先权分别核对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63640" y="4892040"/>
            <a:ext cx="5074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63640" y="4892040"/>
            <a:ext cx="91440" cy="1143000"/>
          </a:xfrm>
          <a:prstGeom prst="rect">
            <a:avLst/>
          </a:prstGeom>
          <a:solidFill>
            <a:srgbClr val="D97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2240" y="5056631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100" b="1">
                <a:solidFill>
                  <a:srgbClr val="D9773E"/>
                </a:solidFill>
                <a:latin typeface="Aptos"/>
              </a:rPr>
              <a:t>记忆句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5422392"/>
            <a:ext cx="4617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ea="Microsoft YaHei" sz="1400" b="0">
                <a:solidFill>
                  <a:srgbClr val="5C3A26"/>
                </a:solidFill>
                <a:latin typeface="Aptos"/>
              </a:rPr>
              <a:t>先定保护客体，再定授权规则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